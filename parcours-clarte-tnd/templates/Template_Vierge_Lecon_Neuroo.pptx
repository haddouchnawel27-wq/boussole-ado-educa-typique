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515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0617A"/>
                </a:solidFill>
                <a:latin typeface="Georgia"/>
              </a:rPr>
              <a:t>[Titre de la leçon]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664208"/>
            <a:ext cx="5577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 i="0">
                <a:solidFill>
                  <a:srgbClr val="416B79"/>
                </a:solidFill>
                <a:latin typeface="Aptos"/>
              </a:rPr>
              <a:t>[Sous-titre ou promesse claire de la leçon]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395728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59D6"/>
                </a:solidFill>
                <a:latin typeface="Aptos"/>
              </a:rPr>
              <a:t>Remplace les textes entre crochets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5486400" cy="201168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20617A"/>
                </a:solidFill>
                <a:latin typeface="Aptos"/>
              </a:rPr>
              <a:t>[Ajoute ici l’idée d’ouverture :
le contexte, l’enjeu et la phrase qui rassure le parent.]</a:t>
            </a:r>
          </a:p>
        </p:txBody>
      </p:sp>
      <p:pic>
        <p:nvPicPr>
          <p:cNvPr id="15" name="Picture 14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051560"/>
            <a:ext cx="3886200" cy="38862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229600" y="914400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0" y="713232"/>
            <a:ext cx="73152" cy="73152"/>
          </a:xfrm>
          <a:prstGeom prst="ellipse">
            <a:avLst/>
          </a:prstGeom>
          <a:solidFill>
            <a:srgbClr val="FB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960120"/>
            <a:ext cx="73152" cy="73152"/>
          </a:xfrm>
          <a:prstGeom prst="ellipse">
            <a:avLst/>
          </a:prstGeom>
          <a:solidFill>
            <a:srgbClr val="86B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1389888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6217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BFF85"/>
                </a:solidFill>
                <a:latin typeface="Aptos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83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59D6"/>
                </a:solidFill>
                <a:latin typeface="Aptos"/>
              </a:rPr>
              <a:t>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68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[Objectif de la leçon]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5669280" cy="3657600"/>
          </a:xfrm>
          <a:prstGeom prst="roundRect">
            <a:avLst/>
          </a:prstGeom>
          <a:solidFill>
            <a:srgbClr val="F8F8F6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59D6"/>
                </a:solidFill>
                <a:latin typeface="Aptos"/>
              </a:rPr>
              <a:t>Objectifs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50292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[Objectif 1]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[Objectif 2]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[Objectif 3]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[Objectif 4]</a:t>
            </a:r>
          </a:p>
        </p:txBody>
      </p:sp>
      <p:pic>
        <p:nvPicPr>
          <p:cNvPr id="14" name="Picture 13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417320"/>
            <a:ext cx="3337560" cy="333756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8229600" y="914400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713232"/>
            <a:ext cx="73152" cy="73152"/>
          </a:xfrm>
          <a:prstGeom prst="ellipse">
            <a:avLst/>
          </a:prstGeom>
          <a:solidFill>
            <a:srgbClr val="FB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0" y="960120"/>
            <a:ext cx="73152" cy="73152"/>
          </a:xfrm>
          <a:prstGeom prst="ellipse">
            <a:avLst/>
          </a:prstGeom>
          <a:solidFill>
            <a:srgbClr val="86B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64240" y="1389888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6217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BFF85"/>
                </a:solidFill>
                <a:latin typeface="Aptos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83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59D6"/>
                </a:solidFill>
                <a:latin typeface="Aptos"/>
              </a:rPr>
              <a:t>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0617A"/>
                </a:solidFill>
                <a:latin typeface="Georgia"/>
              </a:rPr>
              <a:t>[Le message central]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6492240" cy="210312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993392"/>
            <a:ext cx="5852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i="0">
                <a:solidFill>
                  <a:srgbClr val="20617A"/>
                </a:solidFill>
                <a:latin typeface="Aptos"/>
              </a:rPr>
              <a:t>[Une phrase forte en 2 lignes maximum pour expliquer l’idée clé.]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416B79"/>
                </a:solidFill>
                <a:latin typeface="Aptos"/>
              </a:rPr>
              <a:t>Exemples de facteurs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26280"/>
            <a:ext cx="1234440" cy="438912"/>
          </a:xfrm>
          <a:prstGeom prst="roundRect">
            <a:avLst/>
          </a:prstGeom>
          <a:solidFill>
            <a:srgbClr val="FBEBF6"/>
          </a:solidFill>
          <a:ln w="15240">
            <a:solidFill>
              <a:srgbClr val="FF5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59943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0617A"/>
                </a:solidFill>
                <a:latin typeface="Aptos"/>
              </a:rPr>
              <a:t>[facteur 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526280"/>
            <a:ext cx="1234440" cy="438912"/>
          </a:xfrm>
          <a:prstGeom prst="roundRect">
            <a:avLst/>
          </a:prstGeom>
          <a:solidFill>
            <a:srgbClr val="FCFCE2"/>
          </a:solidFill>
          <a:ln w="15240">
            <a:solidFill>
              <a:srgbClr val="FBF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5144" y="459943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0617A"/>
                </a:solidFill>
                <a:latin typeface="Aptos"/>
              </a:rPr>
              <a:t>[facteur 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526280"/>
            <a:ext cx="1234440" cy="438912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3" y="459943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0617A"/>
                </a:solidFill>
                <a:latin typeface="Aptos"/>
              </a:rPr>
              <a:t>[facteur 3]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4526280"/>
            <a:ext cx="1234440" cy="438912"/>
          </a:xfrm>
          <a:prstGeom prst="roundRect">
            <a:avLst/>
          </a:prstGeom>
          <a:solidFill>
            <a:srgbClr val="FBEBF6"/>
          </a:solidFill>
          <a:ln w="15240">
            <a:solidFill>
              <a:srgbClr val="FF5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459943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0617A"/>
                </a:solidFill>
                <a:latin typeface="Aptos"/>
              </a:rPr>
              <a:t>[facteur 4]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5074920"/>
            <a:ext cx="1234440" cy="438912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514807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0617A"/>
                </a:solidFill>
                <a:latin typeface="Aptos"/>
              </a:rPr>
              <a:t>[facteur 5]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5074920"/>
            <a:ext cx="1234440" cy="438912"/>
          </a:xfrm>
          <a:prstGeom prst="roundRect">
            <a:avLst/>
          </a:prstGeom>
          <a:solidFill>
            <a:srgbClr val="FCFCE2"/>
          </a:solidFill>
          <a:ln w="15240">
            <a:solidFill>
              <a:srgbClr val="FBF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1063" y="514807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0617A"/>
                </a:solidFill>
                <a:latin typeface="Aptos"/>
              </a:rPr>
              <a:t>[facteur 6]</a:t>
            </a:r>
          </a:p>
        </p:txBody>
      </p:sp>
      <p:pic>
        <p:nvPicPr>
          <p:cNvPr id="26" name="Picture 25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188720"/>
            <a:ext cx="3474720" cy="347472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8229600" y="914400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35440" y="713232"/>
            <a:ext cx="73152" cy="73152"/>
          </a:xfrm>
          <a:prstGeom prst="ellipse">
            <a:avLst/>
          </a:prstGeom>
          <a:solidFill>
            <a:srgbClr val="FB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0" y="960120"/>
            <a:ext cx="73152" cy="73152"/>
          </a:xfrm>
          <a:prstGeom prst="ellipse">
            <a:avLst/>
          </a:prstGeom>
          <a:solidFill>
            <a:srgbClr val="86B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64240" y="1389888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6217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BFF85"/>
                </a:solidFill>
                <a:latin typeface="Aptos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583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59D6"/>
                </a:solidFill>
                <a:latin typeface="Aptos"/>
              </a:rPr>
              <a:t>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22960"/>
            <a:ext cx="6217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[4 points à montrer]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2011680" cy="320040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139696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0617A"/>
                </a:solidFill>
                <a:latin typeface="Aptos"/>
              </a:rPr>
              <a:t>[Point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1691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416B79"/>
                </a:solidFill>
                <a:latin typeface="Aptos"/>
              </a:rPr>
              <a:t>[Ajoute ici une idée concrète
ou un exemple très simple.]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920240"/>
            <a:ext cx="2011680" cy="3200400"/>
          </a:xfrm>
          <a:prstGeom prst="roundRect">
            <a:avLst/>
          </a:prstGeom>
          <a:solidFill>
            <a:srgbClr val="FBEBF6"/>
          </a:solidFill>
          <a:ln w="15240">
            <a:solidFill>
              <a:srgbClr val="FF5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139696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0617A"/>
                </a:solidFill>
                <a:latin typeface="Aptos"/>
              </a:rPr>
              <a:t>[Point 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788920"/>
            <a:ext cx="1691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416B79"/>
                </a:solidFill>
                <a:latin typeface="Aptos"/>
              </a:rPr>
              <a:t>[Ajoute ici une idée concrète
ou un exemple très simple.]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6672" y="1920240"/>
            <a:ext cx="2011680" cy="3200400"/>
          </a:xfrm>
          <a:prstGeom prst="roundRect">
            <a:avLst/>
          </a:prstGeom>
          <a:solidFill>
            <a:srgbClr val="FCFCE2"/>
          </a:solidFill>
          <a:ln w="15240">
            <a:solidFill>
              <a:srgbClr val="FBF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2139696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0617A"/>
                </a:solidFill>
                <a:latin typeface="Aptos"/>
              </a:rPr>
              <a:t>[Point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788920"/>
            <a:ext cx="1691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416B79"/>
                </a:solidFill>
                <a:latin typeface="Aptos"/>
              </a:rPr>
              <a:t>[Ajoute ici une idée concrète
ou un exemple très simple.]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35824" y="1920240"/>
            <a:ext cx="2011680" cy="320040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2139696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0617A"/>
                </a:solidFill>
                <a:latin typeface="Aptos"/>
              </a:rPr>
              <a:t>[Point 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2788920"/>
            <a:ext cx="1691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416B79"/>
                </a:solidFill>
                <a:latin typeface="Aptos"/>
              </a:rPr>
              <a:t>[Ajoute ici une idée concrète
ou un exemple très simple.]</a:t>
            </a:r>
          </a:p>
        </p:txBody>
      </p:sp>
      <p:pic>
        <p:nvPicPr>
          <p:cNvPr id="23" name="Picture 22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868680"/>
            <a:ext cx="14173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41248"/>
            <a:ext cx="6217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[Comparer deux lectures]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83080"/>
            <a:ext cx="4983480" cy="3566160"/>
          </a:xfrm>
          <a:prstGeom prst="roundRect">
            <a:avLst/>
          </a:prstGeom>
          <a:solidFill>
            <a:srgbClr val="F8F8F6"/>
          </a:solidFill>
          <a:ln w="15240">
            <a:solidFill>
              <a:srgbClr val="FF5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783080"/>
            <a:ext cx="4983480" cy="3566160"/>
          </a:xfrm>
          <a:prstGeom prst="roundRect">
            <a:avLst/>
          </a:prstGeom>
          <a:solidFill>
            <a:srgbClr val="F8F8F6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933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59D6"/>
                </a:solidFill>
                <a:latin typeface="Aptos"/>
              </a:rPr>
              <a:t>[Avant]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9339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86B9B4"/>
                </a:solidFill>
                <a:latin typeface="Aptos"/>
              </a:rPr>
              <a:t>[Après]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6032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>
                <a:solidFill>
                  <a:srgbClr val="20617A"/>
                </a:solidFill>
                <a:latin typeface="Aptos"/>
              </a:defRPr>
            </a:pPr>
            <a:r>
              <a:rPr sz="2200">
                <a:solidFill>
                  <a:srgbClr val="20617A"/>
                </a:solidFill>
                <a:latin typeface="Aptos"/>
              </a:rPr>
              <a:t>[Idée 1]</a:t>
            </a:r>
          </a:p>
          <a:p>
            <a:pPr algn="l">
              <a:defRPr sz="2200">
                <a:solidFill>
                  <a:srgbClr val="20617A"/>
                </a:solidFill>
                <a:latin typeface="Aptos"/>
              </a:defRPr>
            </a:pPr>
            <a:r>
              <a:rPr sz="2200">
                <a:solidFill>
                  <a:srgbClr val="20617A"/>
                </a:solidFill>
                <a:latin typeface="Aptos"/>
              </a:rPr>
              <a:t>[Idée 2]</a:t>
            </a:r>
          </a:p>
          <a:p>
            <a:pPr algn="l">
              <a:defRPr sz="2200">
                <a:solidFill>
                  <a:srgbClr val="20617A"/>
                </a:solidFill>
                <a:latin typeface="Aptos"/>
              </a:defRPr>
            </a:pPr>
            <a:r>
              <a:rPr sz="2200">
                <a:solidFill>
                  <a:srgbClr val="20617A"/>
                </a:solidFill>
                <a:latin typeface="Aptos"/>
              </a:rPr>
              <a:t>[Idée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56032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>
                <a:solidFill>
                  <a:srgbClr val="20617A"/>
                </a:solidFill>
                <a:latin typeface="Aptos"/>
              </a:defRPr>
            </a:pPr>
            <a:r>
              <a:rPr sz="2200">
                <a:solidFill>
                  <a:srgbClr val="20617A"/>
                </a:solidFill>
                <a:latin typeface="Aptos"/>
              </a:rPr>
              <a:t>[Lecture 1]</a:t>
            </a:r>
          </a:p>
          <a:p>
            <a:pPr algn="l">
              <a:defRPr sz="2200">
                <a:solidFill>
                  <a:srgbClr val="20617A"/>
                </a:solidFill>
                <a:latin typeface="Aptos"/>
              </a:defRPr>
            </a:pPr>
            <a:r>
              <a:rPr sz="2200">
                <a:solidFill>
                  <a:srgbClr val="20617A"/>
                </a:solidFill>
                <a:latin typeface="Aptos"/>
              </a:rPr>
              <a:t>[Lecture 2]</a:t>
            </a:r>
          </a:p>
          <a:p>
            <a:pPr algn="l">
              <a:defRPr sz="2200">
                <a:solidFill>
                  <a:srgbClr val="20617A"/>
                </a:solidFill>
                <a:latin typeface="Aptos"/>
              </a:defRPr>
            </a:pPr>
            <a:r>
              <a:rPr sz="2200">
                <a:solidFill>
                  <a:srgbClr val="20617A"/>
                </a:solidFill>
                <a:latin typeface="Aptos"/>
              </a:rPr>
              <a:t>[Lecture 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5661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86B9B4"/>
                </a:solidFill>
                <a:latin typeface="Aptos"/>
              </a:rPr>
              <a:t>→</a:t>
            </a:r>
          </a:p>
        </p:txBody>
      </p:sp>
      <p:pic>
        <p:nvPicPr>
          <p:cNvPr id="18" name="Picture 17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502920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41248"/>
            <a:ext cx="5852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[Moments / étapes / repères]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4572000" cy="3931920"/>
          </a:xfrm>
          <a:prstGeom prst="roundRect">
            <a:avLst/>
          </a:prstGeom>
          <a:solidFill>
            <a:srgbClr val="F8F8F6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7510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59D6"/>
                </a:solidFill>
                <a:latin typeface="Aptos"/>
              </a:rPr>
              <a:t>[Titre colonne]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374903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20617A"/>
                </a:solidFill>
                <a:latin typeface="Aptos"/>
              </a:defRPr>
            </a:pPr>
            <a:r>
              <a:rPr sz="2000">
                <a:solidFill>
                  <a:srgbClr val="20617A"/>
                </a:solidFill>
                <a:latin typeface="Aptos"/>
              </a:rPr>
              <a:t>[élément 1]</a:t>
            </a:r>
          </a:p>
          <a:p>
            <a:pPr algn="l">
              <a:defRPr sz="2000">
                <a:solidFill>
                  <a:srgbClr val="20617A"/>
                </a:solidFill>
                <a:latin typeface="Aptos"/>
              </a:defRPr>
            </a:pPr>
            <a:r>
              <a:rPr sz="2000">
                <a:solidFill>
                  <a:srgbClr val="20617A"/>
                </a:solidFill>
                <a:latin typeface="Aptos"/>
              </a:rPr>
              <a:t>[élément 2]</a:t>
            </a:r>
          </a:p>
          <a:p>
            <a:pPr algn="l">
              <a:defRPr sz="2000">
                <a:solidFill>
                  <a:srgbClr val="20617A"/>
                </a:solidFill>
                <a:latin typeface="Aptos"/>
              </a:defRPr>
            </a:pPr>
            <a:r>
              <a:rPr sz="2000">
                <a:solidFill>
                  <a:srgbClr val="20617A"/>
                </a:solidFill>
                <a:latin typeface="Aptos"/>
              </a:rPr>
              <a:t>[élément 3]</a:t>
            </a:r>
          </a:p>
          <a:p>
            <a:pPr algn="l">
              <a:defRPr sz="2000">
                <a:solidFill>
                  <a:srgbClr val="20617A"/>
                </a:solidFill>
                <a:latin typeface="Aptos"/>
              </a:defRPr>
            </a:pPr>
            <a:r>
              <a:rPr sz="2000">
                <a:solidFill>
                  <a:srgbClr val="20617A"/>
                </a:solidFill>
                <a:latin typeface="Aptos"/>
              </a:rPr>
              <a:t>[élément 4]</a:t>
            </a:r>
          </a:p>
          <a:p>
            <a:pPr algn="l">
              <a:defRPr sz="2000">
                <a:solidFill>
                  <a:srgbClr val="20617A"/>
                </a:solidFill>
                <a:latin typeface="Aptos"/>
              </a:defRPr>
            </a:pPr>
            <a:r>
              <a:rPr sz="2000">
                <a:solidFill>
                  <a:srgbClr val="20617A"/>
                </a:solidFill>
                <a:latin typeface="Aptos"/>
              </a:rPr>
              <a:t>[élément 5]</a:t>
            </a:r>
          </a:p>
          <a:p>
            <a:pPr algn="l">
              <a:defRPr sz="2000">
                <a:solidFill>
                  <a:srgbClr val="20617A"/>
                </a:solidFill>
                <a:latin typeface="Aptos"/>
              </a:defRPr>
            </a:pPr>
            <a:r>
              <a:rPr sz="2000">
                <a:solidFill>
                  <a:srgbClr val="20617A"/>
                </a:solidFill>
                <a:latin typeface="Aptos"/>
              </a:rPr>
              <a:t>[élément 6]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737360"/>
            <a:ext cx="5897880" cy="393192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975104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16B79"/>
                </a:solidFill>
                <a:latin typeface="Aptos"/>
              </a:rPr>
              <a:t>[Phrase d’explication ou angle de lecture]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423160"/>
            <a:ext cx="48463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0617A"/>
                </a:solidFill>
                <a:latin typeface="Aptos"/>
              </a:rPr>
              <a:t>[Ajoute ici une explication plus douce et concrète.
Ex. : pourquoi ce moment est fragile, ce qui s’accumule,
ou ce que cela demande à l’enfant.]</a:t>
            </a:r>
          </a:p>
        </p:txBody>
      </p:sp>
      <p:pic>
        <p:nvPicPr>
          <p:cNvPr id="17" name="Picture 16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429768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41248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[À retenir]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737360"/>
            <a:ext cx="10972800" cy="3474720"/>
          </a:xfrm>
          <a:prstGeom prst="roundRect">
            <a:avLst/>
          </a:prstGeom>
          <a:solidFill>
            <a:srgbClr val="F8F8F6"/>
          </a:solidFill>
          <a:ln w="1524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38912" cy="438912"/>
          </a:xfrm>
          <a:prstGeom prst="ellipse">
            <a:avLst/>
          </a:prstGeom>
          <a:solidFill>
            <a:srgbClr val="BDF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029968"/>
            <a:ext cx="3840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0617A"/>
                </a:solidFill>
                <a:latin typeface="Aptos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3794760" y="1965960"/>
            <a:ext cx="438912" cy="43891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029968"/>
            <a:ext cx="3840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0617A"/>
                </a:solidFill>
                <a:latin typeface="Aptos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1965960"/>
            <a:ext cx="438912" cy="438912"/>
          </a:xfrm>
          <a:prstGeom prst="ellipse">
            <a:avLst/>
          </a:prstGeom>
          <a:solidFill>
            <a:srgbClr val="FB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2029968"/>
            <a:ext cx="3840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0617A"/>
                </a:solidFill>
                <a:latin typeface="Aptos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9555480" y="1965960"/>
            <a:ext cx="438912" cy="438912"/>
          </a:xfrm>
          <a:prstGeom prst="ellipse">
            <a:avLst/>
          </a:prstGeom>
          <a:solidFill>
            <a:srgbClr val="86B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2029968"/>
            <a:ext cx="3840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0617A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39" y="2560320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0617A"/>
                </a:solidFill>
                <a:latin typeface="Aptos"/>
              </a:rPr>
              <a:t>[Idée forte 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560320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0617A"/>
                </a:solidFill>
                <a:latin typeface="Aptos"/>
              </a:rPr>
              <a:t>[Idée forte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60320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0617A"/>
                </a:solidFill>
                <a:latin typeface="Aptos"/>
              </a:rPr>
              <a:t>[Idée forte 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2560320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0617A"/>
                </a:solidFill>
                <a:latin typeface="Aptos"/>
              </a:rPr>
              <a:t>[Idée forte 4]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34840"/>
            <a:ext cx="9875520" cy="54864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572000"/>
            <a:ext cx="9326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416B79"/>
                </a:solidFill>
                <a:latin typeface="Aptos"/>
              </a:rPr>
              <a:t>[Ajoute ici la phrase de synthèse de la leçon.]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Module X  •  Leçon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41248"/>
            <a:ext cx="5486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[Transition vers la suite]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6309360" cy="2651760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59D6"/>
                </a:solidFill>
                <a:latin typeface="Aptos"/>
              </a:rPr>
              <a:t>Leçon suivante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95728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0617A"/>
                </a:solidFill>
                <a:latin typeface="Aptos"/>
              </a:rPr>
              <a:t>[Titre de la prochaine leçon]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416B79"/>
                </a:solidFill>
                <a:latin typeface="Aptos"/>
              </a:rPr>
              <a:t>[1 phrase qui donne envie de continuer]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103120"/>
            <a:ext cx="3931920" cy="1005840"/>
          </a:xfrm>
          <a:prstGeom prst="roundRect">
            <a:avLst/>
          </a:prstGeom>
          <a:solidFill>
            <a:srgbClr val="BDFFCE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35915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20617A"/>
                </a:solidFill>
                <a:latin typeface="Aptos"/>
              </a:rPr>
              <a:t>[Suite : leçon X]</a:t>
            </a:r>
          </a:p>
        </p:txBody>
      </p:sp>
      <p:pic>
        <p:nvPicPr>
          <p:cNvPr id="17" name="Picture 16" descr="Neuroo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383280"/>
            <a:ext cx="2286000" cy="2286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8229600" y="914400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713232"/>
            <a:ext cx="73152" cy="73152"/>
          </a:xfrm>
          <a:prstGeom prst="ellipse">
            <a:avLst/>
          </a:prstGeom>
          <a:solidFill>
            <a:srgbClr val="FB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960120"/>
            <a:ext cx="73152" cy="73152"/>
          </a:xfrm>
          <a:prstGeom prst="ellipse">
            <a:avLst/>
          </a:prstGeom>
          <a:solidFill>
            <a:srgbClr val="86B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64240" y="1389888"/>
            <a:ext cx="73152" cy="73152"/>
          </a:xfrm>
          <a:prstGeom prst="ellipse">
            <a:avLst/>
          </a:prstGeom>
          <a:solidFill>
            <a:srgbClr val="FF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6217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BFF85"/>
                </a:solidFill>
                <a:latin typeface="Apto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583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59D6"/>
                </a:solidFill>
                <a:latin typeface="Aptos"/>
              </a:rPr>
              <a:t>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" y="228600"/>
            <a:ext cx="2926080" cy="402336"/>
          </a:xfrm>
          <a:prstGeom prst="roundRect">
            <a:avLst/>
          </a:prstGeom>
          <a:solidFill>
            <a:srgbClr val="EBF9F2"/>
          </a:solidFill>
          <a:ln w="1524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" y="201168"/>
            <a:ext cx="438912" cy="438912"/>
          </a:xfrm>
          <a:prstGeom prst="ellipse">
            <a:avLst/>
          </a:prstGeom>
          <a:solidFill>
            <a:srgbClr val="F8F8F6"/>
          </a:solidFill>
          <a:ln w="1651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BFF85"/>
                </a:solidFill>
                <a:latin typeface="Aptos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"/>
            <a:ext cx="2286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0617A"/>
                </a:solidFill>
                <a:latin typeface="Aptos"/>
              </a:rPr>
              <a:t>Template  •  Mode d’emploi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6309360"/>
            <a:ext cx="11612880" cy="384048"/>
          </a:xfrm>
          <a:prstGeom prst="roundRect">
            <a:avLst/>
          </a:prstGeom>
          <a:solidFill>
            <a:srgbClr val="F8F8F6"/>
          </a:solidFill>
          <a:ln w="1270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16B79"/>
                </a:solidFill>
                <a:latin typeface="Aptos"/>
              </a:rPr>
              <a:t>Méthode Neuro-Éduca  •  Neuroo</a:t>
            </a:r>
          </a:p>
        </p:txBody>
      </p:sp>
      <p:sp>
        <p:nvSpPr>
          <p:cNvPr id="8" name="Oval 7"/>
          <p:cNvSpPr/>
          <p:nvPr/>
        </p:nvSpPr>
        <p:spPr>
          <a:xfrm>
            <a:off x="11430000" y="256032"/>
            <a:ext cx="347472" cy="347472"/>
          </a:xfrm>
          <a:prstGeom prst="ellipse">
            <a:avLst/>
          </a:prstGeom>
          <a:solidFill>
            <a:srgbClr val="EBF9F2"/>
          </a:solidFill>
          <a:ln w="12700">
            <a:solidFill>
              <a:srgbClr val="BD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66576" y="30175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0617A"/>
                </a:solidFill>
                <a:latin typeface="Apto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841248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0617A"/>
                </a:solidFill>
                <a:latin typeface="Georgia"/>
              </a:rPr>
              <a:t>Comment utiliser ce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6400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Duplique la slide dont tu as besoin.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Remplace les textes entre crochets.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Garde des titres courts pour rester élégante.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Évite de surcharger : une idée forte par slide.</a:t>
            </a:r>
          </a:p>
          <a:p>
            <a:pPr algn="l">
              <a:defRPr sz="2100">
                <a:solidFill>
                  <a:srgbClr val="20617A"/>
                </a:solidFill>
                <a:latin typeface="Aptos"/>
              </a:defRPr>
            </a:pPr>
            <a:r>
              <a:rPr sz="2100">
                <a:solidFill>
                  <a:srgbClr val="20617A"/>
                </a:solidFill>
                <a:latin typeface="Aptos"/>
              </a:rPr>
              <a:t>Conserve la mascotte en appui visuel, pas comme élément dominant.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737360"/>
            <a:ext cx="3840480" cy="3474720"/>
          </a:xfrm>
          <a:prstGeom prst="roundRect">
            <a:avLst/>
          </a:prstGeom>
          <a:solidFill>
            <a:srgbClr val="F8F8F6"/>
          </a:solidFill>
          <a:ln w="15240">
            <a:solidFill>
              <a:srgbClr val="DC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057400"/>
            <a:ext cx="32918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0617A"/>
                </a:solidFill>
                <a:latin typeface="Aptos"/>
              </a:rPr>
              <a:t>Palette conseillée :
• Bleu profond #20617A
• Vert menthe #BDFFCE
• Rose #FF59D6
• Vert doux #86B9B4
• Jaune clair #FBFF85
Utilise le rose et le jaune en accent, jamais en masse.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